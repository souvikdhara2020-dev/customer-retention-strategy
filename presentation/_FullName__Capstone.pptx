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37E8A-E653-4D5C-9B13-2C33F5A7AF0A}" v="11" dt="2026-07-18T15:51:16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vik Dhara" userId="6aa6c09f34f30c01" providerId="LiveId" clId="{98CE682D-1038-43C8-BFA4-1F0F2F52378C}"/>
    <pc:docChg chg="undo custSel addSld modSld delMainMaster modMainMaster">
      <pc:chgData name="Souvik Dhara" userId="6aa6c09f34f30c01" providerId="LiveId" clId="{98CE682D-1038-43C8-BFA4-1F0F2F52378C}" dt="2026-07-18T15:51:47.788" v="3127" actId="1076"/>
      <pc:docMkLst>
        <pc:docMk/>
      </pc:docMkLst>
      <pc:sldChg chg="modSp mod">
        <pc:chgData name="Souvik Dhara" userId="6aa6c09f34f30c01" providerId="LiveId" clId="{98CE682D-1038-43C8-BFA4-1F0F2F52378C}" dt="2026-07-09T16:44:35.236" v="2399" actId="20577"/>
        <pc:sldMkLst>
          <pc:docMk/>
          <pc:sldMk cId="0" sldId="256"/>
        </pc:sldMkLst>
        <pc:spChg chg="mod">
          <ac:chgData name="Souvik Dhara" userId="6aa6c09f34f30c01" providerId="LiveId" clId="{98CE682D-1038-43C8-BFA4-1F0F2F52378C}" dt="2026-07-09T16:44:35.236" v="2399" actId="20577"/>
          <ac:spMkLst>
            <pc:docMk/>
            <pc:sldMk cId="0" sldId="256"/>
            <ac:spMk id="151" creationId="{00000000-0000-0000-0000-000000000000}"/>
          </ac:spMkLst>
        </pc:spChg>
      </pc:sldChg>
      <pc:sldChg chg="modSp mod">
        <pc:chgData name="Souvik Dhara" userId="6aa6c09f34f30c01" providerId="LiveId" clId="{98CE682D-1038-43C8-BFA4-1F0F2F52378C}" dt="2026-07-18T15:41:31.700" v="3121"/>
        <pc:sldMkLst>
          <pc:docMk/>
          <pc:sldMk cId="0" sldId="257"/>
        </pc:sldMkLst>
        <pc:spChg chg="mod">
          <ac:chgData name="Souvik Dhara" userId="6aa6c09f34f30c01" providerId="LiveId" clId="{98CE682D-1038-43C8-BFA4-1F0F2F52378C}" dt="2026-07-18T15:41:31.700" v="3121"/>
          <ac:spMkLst>
            <pc:docMk/>
            <pc:sldMk cId="0" sldId="257"/>
            <ac:spMk id="157" creationId="{00000000-0000-0000-0000-000000000000}"/>
          </ac:spMkLst>
        </pc:spChg>
        <pc:spChg chg="mod">
          <ac:chgData name="Souvik Dhara" userId="6aa6c09f34f30c01" providerId="LiveId" clId="{98CE682D-1038-43C8-BFA4-1F0F2F52378C}" dt="2026-07-11T04:24:31.451" v="2560" actId="255"/>
          <ac:spMkLst>
            <pc:docMk/>
            <pc:sldMk cId="0" sldId="257"/>
            <ac:spMk id="158" creationId="{00000000-0000-0000-0000-000000000000}"/>
          </ac:spMkLst>
        </pc:spChg>
      </pc:sldChg>
      <pc:sldChg chg="addSp delSp modSp mod modClrScheme chgLayout">
        <pc:chgData name="Souvik Dhara" userId="6aa6c09f34f30c01" providerId="LiveId" clId="{98CE682D-1038-43C8-BFA4-1F0F2F52378C}" dt="2026-07-18T07:17:21.689" v="3101" actId="1076"/>
        <pc:sldMkLst>
          <pc:docMk/>
          <pc:sldMk cId="0" sldId="258"/>
        </pc:sldMkLst>
        <pc:spChg chg="add mod">
          <ac:chgData name="Souvik Dhara" userId="6aa6c09f34f30c01" providerId="LiveId" clId="{98CE682D-1038-43C8-BFA4-1F0F2F52378C}" dt="2026-07-09T07:51:26.624" v="1179" actId="20577"/>
          <ac:spMkLst>
            <pc:docMk/>
            <pc:sldMk cId="0" sldId="258"/>
            <ac:spMk id="9" creationId="{11D5A731-7D12-66B6-249F-6DF8FF29A2D7}"/>
          </ac:spMkLst>
        </pc:spChg>
        <pc:spChg chg="mod ord">
          <ac:chgData name="Souvik Dhara" userId="6aa6c09f34f30c01" providerId="LiveId" clId="{98CE682D-1038-43C8-BFA4-1F0F2F52378C}" dt="2026-07-18T07:17:21.689" v="3101" actId="1076"/>
          <ac:spMkLst>
            <pc:docMk/>
            <pc:sldMk cId="0" sldId="258"/>
            <ac:spMk id="163" creationId="{00000000-0000-0000-0000-000000000000}"/>
          </ac:spMkLst>
        </pc:spChg>
        <pc:picChg chg="add mod">
          <ac:chgData name="Souvik Dhara" userId="6aa6c09f34f30c01" providerId="LiveId" clId="{98CE682D-1038-43C8-BFA4-1F0F2F52378C}" dt="2026-07-11T04:28:48.697" v="2574" actId="14100"/>
          <ac:picMkLst>
            <pc:docMk/>
            <pc:sldMk cId="0" sldId="258"/>
            <ac:picMk id="4" creationId="{89E01DE8-88EC-DB8D-849D-F46E050D5016}"/>
          </ac:picMkLst>
        </pc:picChg>
        <pc:picChg chg="add mod">
          <ac:chgData name="Souvik Dhara" userId="6aa6c09f34f30c01" providerId="LiveId" clId="{98CE682D-1038-43C8-BFA4-1F0F2F52378C}" dt="2026-07-11T04:35:17.929" v="2583" actId="14100"/>
          <ac:picMkLst>
            <pc:docMk/>
            <pc:sldMk cId="0" sldId="258"/>
            <ac:picMk id="11" creationId="{22DD769B-1C5F-AA94-55EA-78DD89E4AE27}"/>
          </ac:picMkLst>
        </pc:picChg>
        <pc:picChg chg="add mod">
          <ac:chgData name="Souvik Dhara" userId="6aa6c09f34f30c01" providerId="LiveId" clId="{98CE682D-1038-43C8-BFA4-1F0F2F52378C}" dt="2026-07-11T04:37:22.717" v="2591" actId="14100"/>
          <ac:picMkLst>
            <pc:docMk/>
            <pc:sldMk cId="0" sldId="258"/>
            <ac:picMk id="13" creationId="{AE4AE1D3-2F4A-59F4-7FC5-116507CB4AA6}"/>
          </ac:picMkLst>
        </pc:picChg>
      </pc:sldChg>
      <pc:sldChg chg="addSp delSp modSp mod">
        <pc:chgData name="Souvik Dhara" userId="6aa6c09f34f30c01" providerId="LiveId" clId="{98CE682D-1038-43C8-BFA4-1F0F2F52378C}" dt="2026-07-18T15:41:31.700" v="3121"/>
        <pc:sldMkLst>
          <pc:docMk/>
          <pc:sldMk cId="0" sldId="259"/>
        </pc:sldMkLst>
        <pc:spChg chg="mod">
          <ac:chgData name="Souvik Dhara" userId="6aa6c09f34f30c01" providerId="LiveId" clId="{98CE682D-1038-43C8-BFA4-1F0F2F52378C}" dt="2026-07-18T15:41:31.700" v="3121"/>
          <ac:spMkLst>
            <pc:docMk/>
            <pc:sldMk cId="0" sldId="259"/>
            <ac:spMk id="169" creationId="{00000000-0000-0000-0000-000000000000}"/>
          </ac:spMkLst>
        </pc:spChg>
        <pc:spChg chg="mod">
          <ac:chgData name="Souvik Dhara" userId="6aa6c09f34f30c01" providerId="LiveId" clId="{98CE682D-1038-43C8-BFA4-1F0F2F52378C}" dt="2026-07-09T13:35:26.424" v="1546" actId="20577"/>
          <ac:spMkLst>
            <pc:docMk/>
            <pc:sldMk cId="0" sldId="259"/>
            <ac:spMk id="170" creationId="{00000000-0000-0000-0000-000000000000}"/>
          </ac:spMkLst>
        </pc:spChg>
        <pc:graphicFrameChg chg="add mod modGraphic">
          <ac:chgData name="Souvik Dhara" userId="6aa6c09f34f30c01" providerId="LiveId" clId="{98CE682D-1038-43C8-BFA4-1F0F2F52378C}" dt="2026-07-09T15:40:05.384" v="1760"/>
          <ac:graphicFrameMkLst>
            <pc:docMk/>
            <pc:sldMk cId="0" sldId="259"/>
            <ac:graphicFrameMk id="3" creationId="{10710A63-E460-50F6-6B56-3DE710F8F071}"/>
          </ac:graphicFrameMkLst>
        </pc:graphicFrameChg>
      </pc:sldChg>
      <pc:sldChg chg="modSp mod">
        <pc:chgData name="Souvik Dhara" userId="6aa6c09f34f30c01" providerId="LiveId" clId="{98CE682D-1038-43C8-BFA4-1F0F2F52378C}" dt="2026-07-18T15:41:31.700" v="3121"/>
        <pc:sldMkLst>
          <pc:docMk/>
          <pc:sldMk cId="0" sldId="260"/>
        </pc:sldMkLst>
        <pc:spChg chg="mod">
          <ac:chgData name="Souvik Dhara" userId="6aa6c09f34f30c01" providerId="LiveId" clId="{98CE682D-1038-43C8-BFA4-1F0F2F52378C}" dt="2026-07-18T15:41:31.700" v="3121"/>
          <ac:spMkLst>
            <pc:docMk/>
            <pc:sldMk cId="0" sldId="260"/>
            <ac:spMk id="175" creationId="{00000000-0000-0000-0000-000000000000}"/>
          </ac:spMkLst>
        </pc:spChg>
        <pc:spChg chg="mod">
          <ac:chgData name="Souvik Dhara" userId="6aa6c09f34f30c01" providerId="LiveId" clId="{98CE682D-1038-43C8-BFA4-1F0F2F52378C}" dt="2026-07-18T07:25:01.236" v="3119" actId="20577"/>
          <ac:spMkLst>
            <pc:docMk/>
            <pc:sldMk cId="0" sldId="260"/>
            <ac:spMk id="176" creationId="{00000000-0000-0000-0000-000000000000}"/>
          </ac:spMkLst>
        </pc:spChg>
      </pc:sldChg>
      <pc:sldChg chg="addSp delSp modSp mod">
        <pc:chgData name="Souvik Dhara" userId="6aa6c09f34f30c01" providerId="LiveId" clId="{98CE682D-1038-43C8-BFA4-1F0F2F52378C}" dt="2026-07-18T15:41:31.700" v="3121"/>
        <pc:sldMkLst>
          <pc:docMk/>
          <pc:sldMk cId="0" sldId="261"/>
        </pc:sldMkLst>
        <pc:spChg chg="add del mod">
          <ac:chgData name="Souvik Dhara" userId="6aa6c09f34f30c01" providerId="LiveId" clId="{98CE682D-1038-43C8-BFA4-1F0F2F52378C}" dt="2026-07-18T07:13:05.694" v="3096" actId="21"/>
          <ac:spMkLst>
            <pc:docMk/>
            <pc:sldMk cId="0" sldId="261"/>
            <ac:spMk id="2" creationId="{B5B9B2CF-F8B3-A5D1-E671-E202B7EA2D2B}"/>
          </ac:spMkLst>
        </pc:spChg>
        <pc:spChg chg="add del mod">
          <ac:chgData name="Souvik Dhara" userId="6aa6c09f34f30c01" providerId="LiveId" clId="{98CE682D-1038-43C8-BFA4-1F0F2F52378C}" dt="2026-07-18T07:13:52.298" v="3099" actId="21"/>
          <ac:spMkLst>
            <pc:docMk/>
            <pc:sldMk cId="0" sldId="261"/>
            <ac:spMk id="3" creationId="{771F56D9-E82F-8C1A-D87C-07D7CFF6D1A3}"/>
          </ac:spMkLst>
        </pc:spChg>
        <pc:spChg chg="mod">
          <ac:chgData name="Souvik Dhara" userId="6aa6c09f34f30c01" providerId="LiveId" clId="{98CE682D-1038-43C8-BFA4-1F0F2F52378C}" dt="2026-07-18T15:41:31.700" v="3121"/>
          <ac:spMkLst>
            <pc:docMk/>
            <pc:sldMk cId="0" sldId="261"/>
            <ac:spMk id="181" creationId="{00000000-0000-0000-0000-000000000000}"/>
          </ac:spMkLst>
        </pc:spChg>
        <pc:spChg chg="mod">
          <ac:chgData name="Souvik Dhara" userId="6aa6c09f34f30c01" providerId="LiveId" clId="{98CE682D-1038-43C8-BFA4-1F0F2F52378C}" dt="2026-07-18T07:14:49.895" v="3100" actId="1076"/>
          <ac:spMkLst>
            <pc:docMk/>
            <pc:sldMk cId="0" sldId="261"/>
            <ac:spMk id="182" creationId="{00000000-0000-0000-0000-000000000000}"/>
          </ac:spMkLst>
        </pc:spChg>
      </pc:sldChg>
      <pc:sldChg chg="addSp delSp modSp mod delAnim modAnim chgLayout">
        <pc:chgData name="Souvik Dhara" userId="6aa6c09f34f30c01" providerId="LiveId" clId="{98CE682D-1038-43C8-BFA4-1F0F2F52378C}" dt="2026-07-18T15:51:47.788" v="3127" actId="1076"/>
        <pc:sldMkLst>
          <pc:docMk/>
          <pc:sldMk cId="0" sldId="262"/>
        </pc:sldMkLst>
        <pc:spChg chg="add del mod">
          <ac:chgData name="Souvik Dhara" userId="6aa6c09f34f30c01" providerId="LiveId" clId="{98CE682D-1038-43C8-BFA4-1F0F2F52378C}" dt="2026-07-18T15:49:57.948" v="3123" actId="6264"/>
          <ac:spMkLst>
            <pc:docMk/>
            <pc:sldMk cId="0" sldId="262"/>
            <ac:spMk id="2" creationId="{2FEB2F2F-0F29-7C8D-E584-24E1F9601C34}"/>
          </ac:spMkLst>
        </pc:spChg>
        <pc:spChg chg="add del mod">
          <ac:chgData name="Souvik Dhara" userId="6aa6c09f34f30c01" providerId="LiveId" clId="{98CE682D-1038-43C8-BFA4-1F0F2F52378C}" dt="2026-07-18T07:23:16.175" v="3115" actId="21"/>
          <ac:spMkLst>
            <pc:docMk/>
            <pc:sldMk cId="0" sldId="262"/>
            <ac:spMk id="2" creationId="{B92F2DAB-13DF-2816-39E6-F891AD2022B2}"/>
          </ac:spMkLst>
        </pc:spChg>
        <pc:spChg chg="add del mod">
          <ac:chgData name="Souvik Dhara" userId="6aa6c09f34f30c01" providerId="LiveId" clId="{98CE682D-1038-43C8-BFA4-1F0F2F52378C}" dt="2026-07-18T15:50:36.777" v="3124" actId="6264"/>
          <ac:spMkLst>
            <pc:docMk/>
            <pc:sldMk cId="0" sldId="262"/>
            <ac:spMk id="3" creationId="{03528CCA-6BDC-D08E-B860-E55B09A04F98}"/>
          </ac:spMkLst>
        </pc:spChg>
        <pc:spChg chg="mod ord">
          <ac:chgData name="Souvik Dhara" userId="6aa6c09f34f30c01" providerId="LiveId" clId="{98CE682D-1038-43C8-BFA4-1F0F2F52378C}" dt="2026-07-18T15:51:47.788" v="3127" actId="1076"/>
          <ac:spMkLst>
            <pc:docMk/>
            <pc:sldMk cId="0" sldId="262"/>
            <ac:spMk id="187" creationId="{00000000-0000-0000-0000-000000000000}"/>
          </ac:spMkLst>
        </pc:spChg>
        <pc:spChg chg="mod">
          <ac:chgData name="Souvik Dhara" userId="6aa6c09f34f30c01" providerId="LiveId" clId="{98CE682D-1038-43C8-BFA4-1F0F2F52378C}" dt="2026-07-18T07:21:28.960" v="3109" actId="14838"/>
          <ac:spMkLst>
            <pc:docMk/>
            <pc:sldMk cId="0" sldId="262"/>
            <ac:spMk id="188" creationId="{00000000-0000-0000-0000-000000000000}"/>
          </ac:spMkLst>
        </pc:spChg>
      </pc:sldChg>
      <pc:sldChg chg="addSp delSp modSp mod">
        <pc:chgData name="Souvik Dhara" userId="6aa6c09f34f30c01" providerId="LiveId" clId="{98CE682D-1038-43C8-BFA4-1F0F2F52378C}" dt="2026-07-18T15:41:31.700" v="3121"/>
        <pc:sldMkLst>
          <pc:docMk/>
          <pc:sldMk cId="0" sldId="263"/>
        </pc:sldMkLst>
        <pc:spChg chg="mod">
          <ac:chgData name="Souvik Dhara" userId="6aa6c09f34f30c01" providerId="LiveId" clId="{98CE682D-1038-43C8-BFA4-1F0F2F52378C}" dt="2026-07-18T15:41:31.700" v="3121"/>
          <ac:spMkLst>
            <pc:docMk/>
            <pc:sldMk cId="0" sldId="263"/>
            <ac:spMk id="193" creationId="{00000000-0000-0000-0000-000000000000}"/>
          </ac:spMkLst>
        </pc:spChg>
        <pc:picChg chg="add mod">
          <ac:chgData name="Souvik Dhara" userId="6aa6c09f34f30c01" providerId="LiveId" clId="{98CE682D-1038-43C8-BFA4-1F0F2F52378C}" dt="2026-07-11T06:27:25.981" v="2842" actId="14100"/>
          <ac:picMkLst>
            <pc:docMk/>
            <pc:sldMk cId="0" sldId="263"/>
            <ac:picMk id="3" creationId="{E0861145-4E47-5535-F366-7A9142BE5097}"/>
          </ac:picMkLst>
        </pc:picChg>
      </pc:sldChg>
      <pc:sldChg chg="addSp modSp new mod">
        <pc:chgData name="Souvik Dhara" userId="6aa6c09f34f30c01" providerId="LiveId" clId="{98CE682D-1038-43C8-BFA4-1F0F2F52378C}" dt="2026-07-15T04:11:42.531" v="2934" actId="1076"/>
        <pc:sldMkLst>
          <pc:docMk/>
          <pc:sldMk cId="2458686276" sldId="264"/>
        </pc:sldMkLst>
        <pc:spChg chg="mod">
          <ac:chgData name="Souvik Dhara" userId="6aa6c09f34f30c01" providerId="LiveId" clId="{98CE682D-1038-43C8-BFA4-1F0F2F52378C}" dt="2026-07-11T06:32:59.204" v="2915" actId="1076"/>
          <ac:spMkLst>
            <pc:docMk/>
            <pc:sldMk cId="2458686276" sldId="264"/>
            <ac:spMk id="2" creationId="{76F28F33-DF0C-8E45-1F0C-4A56B1D54E95}"/>
          </ac:spMkLst>
        </pc:spChg>
        <pc:picChg chg="add mod">
          <ac:chgData name="Souvik Dhara" userId="6aa6c09f34f30c01" providerId="LiveId" clId="{98CE682D-1038-43C8-BFA4-1F0F2F52378C}" dt="2026-07-15T04:11:42.531" v="2934" actId="1076"/>
          <ac:picMkLst>
            <pc:docMk/>
            <pc:sldMk cId="2458686276" sldId="264"/>
            <ac:picMk id="4" creationId="{4505AF63-0CE4-A6D5-929B-C072787F3D17}"/>
          </ac:picMkLst>
        </pc:picChg>
      </pc:sldChg>
      <pc:sldChg chg="addSp delSp modSp new mod modClrScheme chgLayout">
        <pc:chgData name="Souvik Dhara" userId="6aa6c09f34f30c01" providerId="LiveId" clId="{98CE682D-1038-43C8-BFA4-1F0F2F52378C}" dt="2026-07-15T04:12:00.956" v="2935" actId="14100"/>
        <pc:sldMkLst>
          <pc:docMk/>
          <pc:sldMk cId="498990074" sldId="265"/>
        </pc:sldMkLst>
        <pc:spChg chg="add mod ord">
          <ac:chgData name="Souvik Dhara" userId="6aa6c09f34f30c01" providerId="LiveId" clId="{98CE682D-1038-43C8-BFA4-1F0F2F52378C}" dt="2026-07-11T06:32:49.576" v="2914" actId="20577"/>
          <ac:spMkLst>
            <pc:docMk/>
            <pc:sldMk cId="498990074" sldId="265"/>
            <ac:spMk id="6" creationId="{9C2D4027-0384-405A-3946-46879B038C3A}"/>
          </ac:spMkLst>
        </pc:spChg>
        <pc:picChg chg="add mod">
          <ac:chgData name="Souvik Dhara" userId="6aa6c09f34f30c01" providerId="LiveId" clId="{98CE682D-1038-43C8-BFA4-1F0F2F52378C}" dt="2026-07-15T04:12:00.956" v="2935" actId="14100"/>
          <ac:picMkLst>
            <pc:docMk/>
            <pc:sldMk cId="498990074" sldId="265"/>
            <ac:picMk id="10" creationId="{D3F7C848-881C-E67A-CBBD-FD8EFD190330}"/>
          </ac:picMkLst>
        </pc:picChg>
      </pc:sldChg>
      <pc:sldMasterChg chg="modSldLayout">
        <pc:chgData name="Souvik Dhara" userId="6aa6c09f34f30c01" providerId="LiveId" clId="{98CE682D-1038-43C8-BFA4-1F0F2F52378C}" dt="2026-07-18T15:41:23.274" v="3120"/>
        <pc:sldMasterMkLst>
          <pc:docMk/>
          <pc:sldMasterMk cId="428313912" sldId="2147483681"/>
        </pc:sldMasterMkLst>
        <pc:sldLayoutChg chg="delSp">
          <pc:chgData name="Souvik Dhara" userId="6aa6c09f34f30c01" providerId="LiveId" clId="{98CE682D-1038-43C8-BFA4-1F0F2F52378C}" dt="2026-07-18T15:41:23.274" v="3120"/>
          <pc:sldLayoutMkLst>
            <pc:docMk/>
            <pc:sldMasterMk cId="428313912" sldId="2147483681"/>
            <pc:sldLayoutMk cId="3134384597" sldId="2147483693"/>
          </pc:sldLayoutMkLst>
          <pc:picChg chg="del">
            <ac:chgData name="Souvik Dhara" userId="6aa6c09f34f30c01" providerId="LiveId" clId="{98CE682D-1038-43C8-BFA4-1F0F2F52378C}" dt="2026-07-18T15:41:23.274" v="3120"/>
            <ac:picMkLst>
              <pc:docMk/>
              <pc:sldMasterMk cId="428313912" sldId="2147483681"/>
              <pc:sldLayoutMk cId="3134384597" sldId="2147483693"/>
              <ac:picMk id="118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3109ef6d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g3f3109ef6db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109ef6d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3109ef6d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3109ef6db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109ef6db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f3109ef6db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f3109ef6d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f3109ef6d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f3109ef6d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15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6" name="Google Shape;86;p2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2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2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>
            <a:spLocks noGrp="1"/>
          </p:cNvSpPr>
          <p:nvPr>
            <p:ph type="title"/>
          </p:nvPr>
        </p:nvSpPr>
        <p:spPr>
          <a:xfrm>
            <a:off x="305992" y="1337057"/>
            <a:ext cx="8531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/>
              <a:t>Sustainability Capstone:</a:t>
            </a:r>
            <a:endParaRPr sz="38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/>
              <a:t>Decarbonising Travel</a:t>
            </a:r>
            <a:endParaRPr sz="3800" b="0"/>
          </a:p>
        </p:txBody>
      </p:sp>
      <p:sp>
        <p:nvSpPr>
          <p:cNvPr id="151" name="Google Shape;151;p34"/>
          <p:cNvSpPr txBox="1">
            <a:spLocks noGrp="1"/>
          </p:cNvSpPr>
          <p:nvPr>
            <p:ph type="body" idx="1"/>
          </p:nvPr>
        </p:nvSpPr>
        <p:spPr>
          <a:xfrm>
            <a:off x="305992" y="3706100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Speaker name: Souvik Dhara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Institute: Indian Institute of Technology Guwahati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Branch &amp; Year of Study: Mathematice First Year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Email ID: souvikdhara2020@gmail.com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"/>
              <a:t>And also, a subheadline that </a:t>
            </a:r>
            <a:br>
              <a:rPr lang="en"/>
            </a:br>
            <a:r>
              <a:rPr lang="en"/>
              <a:t>is really awesome.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158" name="Google Shape;158;p35"/>
          <p:cNvSpPr txBox="1"/>
          <p:nvPr/>
        </p:nvSpPr>
        <p:spPr>
          <a:xfrm>
            <a:off x="305991" y="614597"/>
            <a:ext cx="8531759" cy="476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Trips : 65,289</a:t>
            </a:r>
          </a:p>
          <a:p>
            <a:pPr lvl="0"/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Carbon Emissions : </a:t>
            </a:r>
            <a:r>
              <a:rPr lang="en-IN" dirty="0"/>
              <a:t>178M kg</a:t>
            </a:r>
          </a:p>
          <a:p>
            <a:pPr lvl="0"/>
            <a:r>
              <a:rPr lang="en-I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Travel Cost : </a:t>
            </a:r>
            <a:r>
              <a:rPr lang="en-IN" dirty="0"/>
              <a:t>140M USD</a:t>
            </a:r>
          </a:p>
          <a:p>
            <a:pPr lvl="0"/>
            <a:r>
              <a:rPr lang="en-I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Average Carbon per Trip : 2727.72 kg</a:t>
            </a:r>
          </a:p>
          <a:p>
            <a:pPr lvl="0"/>
            <a:endParaRPr lang="en-IN"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Insights</a:t>
            </a:r>
            <a:endParaRPr lang="en"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b="1" dirty="0"/>
              <a:t>  Australia</a:t>
            </a:r>
            <a:r>
              <a:rPr lang="en-IN" dirty="0"/>
              <a:t> is the largest contributor to overall travel-related CO₂ emissions. 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b="1" dirty="0"/>
              <a:t>  Sales</a:t>
            </a:r>
            <a:r>
              <a:rPr lang="en-IN" dirty="0"/>
              <a:t> and </a:t>
            </a:r>
            <a:r>
              <a:rPr lang="en-IN" b="1" dirty="0"/>
              <a:t>Marketing</a:t>
            </a:r>
            <a:r>
              <a:rPr lang="en-IN" dirty="0"/>
              <a:t> are the highest-emitting business units. 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b="1" dirty="0"/>
              <a:t>  Air travel (Economy and Business Flights)</a:t>
            </a:r>
            <a:r>
              <a:rPr lang="en-IN" dirty="0"/>
              <a:t> accounts for the majority of total carbon emissions.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-IN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   </a:t>
            </a:r>
            <a:r>
              <a:rPr lang="en-IN" dirty="0"/>
              <a:t>Replace short-haul flights with rail transportation whenever feasible.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Encourage virtual meetings to reduce unnecessary business travel.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Monitor high-emission departments using </a:t>
            </a:r>
            <a:r>
              <a:rPr lang="en-IN" dirty="0" err="1"/>
              <a:t>Celonis</a:t>
            </a:r>
            <a:r>
              <a:rPr lang="en-IN" dirty="0"/>
              <a:t> dashboards and introduce sustainable travel policies.</a:t>
            </a:r>
          </a:p>
          <a:p>
            <a:pPr lvl="0"/>
            <a:endParaRPr lang="en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en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Projected Impact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Lower corporate carbon footprint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Reduced travel expenditure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Improved sustainability reporting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Better alignment with </a:t>
            </a:r>
            <a:r>
              <a:rPr lang="en-IN" b="1" dirty="0"/>
              <a:t>Net Zero 2030</a:t>
            </a:r>
            <a:r>
              <a:rPr lang="en-IN" dirty="0"/>
              <a:t> goals</a:t>
            </a:r>
            <a:endParaRPr lang="en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"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>
            <a:spLocks noGrp="1"/>
          </p:cNvSpPr>
          <p:nvPr>
            <p:ph type="title"/>
          </p:nvPr>
        </p:nvSpPr>
        <p:spPr>
          <a:xfrm>
            <a:off x="186069" y="222715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Emissions Profile and Benchmarking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5A731-7D12-66B6-249F-6DF8FF29A2D7}"/>
              </a:ext>
            </a:extLst>
          </p:cNvPr>
          <p:cNvSpPr txBox="1"/>
          <p:nvPr/>
        </p:nvSpPr>
        <p:spPr>
          <a:xfrm>
            <a:off x="5074170" y="3619567"/>
            <a:ext cx="3883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Observations</a:t>
            </a:r>
          </a:p>
          <a:p>
            <a:r>
              <a:rPr lang="en-IN" sz="1100" dirty="0"/>
              <a:t>• Australia highest emissions</a:t>
            </a:r>
          </a:p>
          <a:p>
            <a:r>
              <a:rPr lang="en-IN" sz="1100" dirty="0"/>
              <a:t>• Sales highest-emitting department </a:t>
            </a:r>
          </a:p>
          <a:p>
            <a:r>
              <a:rPr lang="en-IN" sz="1100" dirty="0"/>
              <a:t>• Flights is the largest contributor to carbon emissions</a:t>
            </a:r>
            <a:endParaRPr lang="en-IN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01DE8-88EC-DB8D-849D-F46E050D5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69" y="3048614"/>
            <a:ext cx="3883761" cy="2094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DD769B-1C5F-AA94-55EA-78DD89E4A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740" y="754491"/>
            <a:ext cx="4462190" cy="22941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AE1D3-2F4A-59F4-7FC5-116507CB4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69" y="754491"/>
            <a:ext cx="4309671" cy="2245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Hotspot Analysis</a:t>
            </a:r>
            <a:endParaRPr/>
          </a:p>
        </p:txBody>
      </p:sp>
      <p:sp>
        <p:nvSpPr>
          <p:cNvPr id="170" name="Google Shape;170;p37"/>
          <p:cNvSpPr txBox="1"/>
          <p:nvPr/>
        </p:nvSpPr>
        <p:spPr>
          <a:xfrm>
            <a:off x="305991" y="808490"/>
            <a:ext cx="8521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buNone/>
            </a:pPr>
            <a:r>
              <a:rPr lang="en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Carbon Emission  Analysis on Top  3 Region :-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10A63-E460-50F6-6B56-3DE710F8F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86746"/>
              </p:ext>
            </p:extLst>
          </p:nvPr>
        </p:nvGraphicFramePr>
        <p:xfrm>
          <a:off x="245327" y="1206607"/>
          <a:ext cx="8394111" cy="21566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89697">
                  <a:extLst>
                    <a:ext uri="{9D8B030D-6E8A-4147-A177-3AD203B41FA5}">
                      <a16:colId xmlns:a16="http://schemas.microsoft.com/office/drawing/2014/main" val="2727247713"/>
                    </a:ext>
                  </a:extLst>
                </a:gridCol>
                <a:gridCol w="1726180">
                  <a:extLst>
                    <a:ext uri="{9D8B030D-6E8A-4147-A177-3AD203B41FA5}">
                      <a16:colId xmlns:a16="http://schemas.microsoft.com/office/drawing/2014/main" val="3899614462"/>
                    </a:ext>
                  </a:extLst>
                </a:gridCol>
                <a:gridCol w="1513205">
                  <a:extLst>
                    <a:ext uri="{9D8B030D-6E8A-4147-A177-3AD203B41FA5}">
                      <a16:colId xmlns:a16="http://schemas.microsoft.com/office/drawing/2014/main" val="688279576"/>
                    </a:ext>
                  </a:extLst>
                </a:gridCol>
                <a:gridCol w="1910576">
                  <a:extLst>
                    <a:ext uri="{9D8B030D-6E8A-4147-A177-3AD203B41FA5}">
                      <a16:colId xmlns:a16="http://schemas.microsoft.com/office/drawing/2014/main" val="3180170512"/>
                    </a:ext>
                  </a:extLst>
                </a:gridCol>
                <a:gridCol w="2154453">
                  <a:extLst>
                    <a:ext uri="{9D8B030D-6E8A-4147-A177-3AD203B41FA5}">
                      <a16:colId xmlns:a16="http://schemas.microsoft.com/office/drawing/2014/main" val="2514462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Business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Travel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Transport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Total Carbon Emission (Kg)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91150"/>
                  </a:ext>
                </a:extLst>
              </a:tr>
              <a:tr h="388761">
                <a:tc>
                  <a:txBody>
                    <a:bodyPr/>
                    <a:lstStyle/>
                    <a:p>
                      <a:r>
                        <a:rPr lang="en-IN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Economy 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982,987.06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623834"/>
                  </a:ext>
                </a:extLst>
              </a:tr>
              <a:tr h="518145">
                <a:tc>
                  <a:txBody>
                    <a:bodyPr/>
                    <a:lstStyle/>
                    <a:p>
                      <a:r>
                        <a:rPr lang="en-IN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Conference/Exhibition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Economy Flight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2,551,234.36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085136"/>
                  </a:ext>
                </a:extLst>
              </a:tr>
              <a:tr h="518145">
                <a:tc>
                  <a:txBody>
                    <a:bodyPr/>
                    <a:lstStyle/>
                    <a:p>
                      <a:r>
                        <a:rPr lang="en-IN" dirty="0"/>
                        <a:t>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Conference/Exhibition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Economy 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761,687.07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129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Inefficiencies Identified</a:t>
            </a:r>
            <a:endParaRPr dirty="0"/>
          </a:p>
        </p:txBody>
      </p:sp>
      <p:sp>
        <p:nvSpPr>
          <p:cNvPr id="176" name="Google Shape;176;p38"/>
          <p:cNvSpPr txBox="1"/>
          <p:nvPr/>
        </p:nvSpPr>
        <p:spPr>
          <a:xfrm>
            <a:off x="305991" y="631903"/>
            <a:ext cx="8531759" cy="458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228600">
              <a:buAutoNum type="arabicPeriod"/>
            </a:pPr>
            <a:r>
              <a:rPr lang="en-IN" sz="1200" b="1" dirty="0"/>
              <a:t>Flight-dependency is the core carbon driver</a:t>
            </a:r>
            <a:br>
              <a:rPr lang="en-IN" sz="1200" dirty="0"/>
            </a:br>
            <a:r>
              <a:rPr lang="en-IN" sz="1200" dirty="0"/>
              <a:t>Flights account for </a:t>
            </a:r>
            <a:r>
              <a:rPr lang="en-IN" sz="1200" b="1" dirty="0"/>
              <a:t>66.33% of total emissions</a:t>
            </a:r>
            <a:r>
              <a:rPr lang="en-IN" sz="1200" dirty="0"/>
              <a:t> despite trains emission</a:t>
            </a:r>
            <a:r>
              <a:rPr lang="en-IN" sz="1200" b="1" dirty="0"/>
              <a:t> less CO2e of all trip</a:t>
            </a:r>
            <a:r>
              <a:rPr lang="en-IN" sz="1200" dirty="0"/>
              <a:t> (3,450 kg vs. 445 kg). Yet trains make up under 5% of all trips.</a:t>
            </a:r>
          </a:p>
          <a:p>
            <a:pPr marL="228600" indent="-228600">
              <a:buAutoNum type="arabicPeriod"/>
            </a:pPr>
            <a:endParaRPr lang="en-IN" sz="1200" dirty="0"/>
          </a:p>
          <a:p>
            <a:r>
              <a:rPr lang="en-IN" sz="1200" b="1" dirty="0"/>
              <a:t>2. Policy non-compliance carries a real carbon cost</a:t>
            </a:r>
            <a:br>
              <a:rPr lang="en-IN" sz="1200" dirty="0"/>
            </a:br>
            <a:r>
              <a:rPr lang="en-IN" sz="1200" dirty="0"/>
              <a:t>    Out-of-policy trips emit </a:t>
            </a:r>
            <a:r>
              <a:rPr lang="en-IN" sz="1200" b="1" dirty="0"/>
              <a:t>58% more CO2e on average</a:t>
            </a:r>
            <a:r>
              <a:rPr lang="en-IN" sz="1200" dirty="0"/>
              <a:t> (3,625 kg vs. 2,525 kg) than compliant trips — policy exceptions aren’t  </a:t>
            </a:r>
          </a:p>
          <a:p>
            <a:r>
              <a:rPr lang="en-IN" sz="1200" dirty="0"/>
              <a:t>    just a cost/governance issue, they're a sustainability one.</a:t>
            </a:r>
          </a:p>
          <a:p>
            <a:endParaRPr lang="en-IN" sz="1200" dirty="0"/>
          </a:p>
          <a:p>
            <a:r>
              <a:rPr lang="en-IN" sz="1200" b="1" dirty="0"/>
              <a:t>3. Regional imbalance in travel carbon intensity</a:t>
            </a:r>
            <a:br>
              <a:rPr lang="en-IN" sz="1200" dirty="0"/>
            </a:br>
            <a:r>
              <a:rPr lang="en-IN" sz="1200" dirty="0"/>
              <a:t>    AU,CN,JP-originating trips average </a:t>
            </a:r>
            <a:r>
              <a:rPr lang="en-IN" sz="1200" b="1" dirty="0"/>
              <a:t>~6x more CO2e per trip</a:t>
            </a:r>
            <a:r>
              <a:rPr lang="en-IN" sz="1200" dirty="0"/>
              <a:t> than DE,ZA,ES trips (3,824 kg vs. 630 kg), driven by long-haul </a:t>
            </a:r>
          </a:p>
          <a:p>
            <a:r>
              <a:rPr lang="en-IN" sz="1200" dirty="0"/>
              <a:t>    flight dependency in that region.</a:t>
            </a:r>
          </a:p>
          <a:p>
            <a:endParaRPr lang="en-IN" sz="1200" dirty="0"/>
          </a:p>
          <a:p>
            <a:r>
              <a:rPr lang="en-IN" sz="1200" b="1" dirty="0"/>
              <a:t>4. Process disruptions add cost and inefficiency</a:t>
            </a: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/>
              <a:t>  9%</a:t>
            </a:r>
            <a:r>
              <a:rPr lang="en-IN" sz="1200" dirty="0"/>
              <a:t> of trips required a </a:t>
            </a:r>
            <a:r>
              <a:rPr lang="en-IN" sz="1200" b="1" dirty="0"/>
              <a:t>Trip Extension.</a:t>
            </a: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/>
              <a:t>  6%</a:t>
            </a:r>
            <a:r>
              <a:rPr lang="en-IN" sz="1200" dirty="0"/>
              <a:t> needed an </a:t>
            </a:r>
            <a:r>
              <a:rPr lang="en-IN" sz="1200" b="1" dirty="0"/>
              <a:t>Itinerary Edit</a:t>
            </a:r>
            <a:r>
              <a:rPr lang="en-IN" sz="1200" dirty="0"/>
              <a:t> after booking.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/>
              <a:t>  4%</a:t>
            </a:r>
            <a:r>
              <a:rPr lang="en-IN" sz="1200" dirty="0"/>
              <a:t> had a </a:t>
            </a:r>
            <a:r>
              <a:rPr lang="en-IN" sz="1200" b="1" dirty="0"/>
              <a:t>Hotel Change</a:t>
            </a:r>
            <a:r>
              <a:rPr lang="en-IN" sz="1200" dirty="0"/>
              <a:t>, </a:t>
            </a:r>
            <a:r>
              <a:rPr lang="en-IN" sz="1200" b="1" dirty="0"/>
              <a:t>4%</a:t>
            </a:r>
            <a:r>
              <a:rPr lang="en-IN" sz="1200" dirty="0"/>
              <a:t> a </a:t>
            </a:r>
            <a:r>
              <a:rPr lang="en-IN" sz="1200" b="1" dirty="0"/>
              <a:t>Mode of Transportation Change.</a:t>
            </a: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/>
              <a:t>  3%</a:t>
            </a:r>
            <a:r>
              <a:rPr lang="en-IN" sz="1200" dirty="0"/>
              <a:t> of trips saw a </a:t>
            </a:r>
            <a:r>
              <a:rPr lang="en-IN" sz="1200" b="1" dirty="0"/>
              <a:t>Flight Change</a:t>
            </a:r>
            <a:r>
              <a:rPr lang="en-IN" sz="1200" dirty="0"/>
              <a:t>, and </a:t>
            </a:r>
            <a:r>
              <a:rPr lang="en-IN" sz="1200" b="1" dirty="0"/>
              <a:t>4%</a:t>
            </a:r>
            <a:r>
              <a:rPr lang="en-IN" sz="1200" dirty="0"/>
              <a:t> needed a </a:t>
            </a:r>
            <a:r>
              <a:rPr lang="en-IN" sz="1200" b="1" dirty="0"/>
              <a:t>Ticket Reissue</a:t>
            </a:r>
            <a:r>
              <a:rPr lang="en-IN" sz="1200" dirty="0"/>
              <a:t> — signs of booking decisions made too early or </a:t>
            </a:r>
          </a:p>
          <a:p>
            <a:r>
              <a:rPr lang="en-IN" sz="1200" dirty="0"/>
              <a:t>      without enough flexibility.</a:t>
            </a:r>
          </a:p>
          <a:p>
            <a:endParaRPr lang="en-IN" sz="1200" dirty="0"/>
          </a:p>
          <a:p>
            <a:r>
              <a:rPr lang="en-IN" sz="1200" b="1" dirty="0"/>
              <a:t>5. Weather and operational disruptions are recurring bottlenecks</a:t>
            </a:r>
            <a:br>
              <a:rPr lang="en-IN" sz="1200" dirty="0"/>
            </a:br>
            <a:r>
              <a:rPr lang="en-IN" sz="1200" dirty="0"/>
              <a:t>   Nearly </a:t>
            </a:r>
            <a:r>
              <a:rPr lang="en-IN" sz="1200" b="1" dirty="0"/>
              <a:t>2%</a:t>
            </a:r>
            <a:r>
              <a:rPr lang="en-IN" sz="1200" dirty="0"/>
              <a:t> of trips hit a </a:t>
            </a:r>
            <a:r>
              <a:rPr lang="en-IN" sz="1200" b="1" dirty="0"/>
              <a:t>Flight Delay or Cancellation</a:t>
            </a:r>
            <a:r>
              <a:rPr lang="en-IN" sz="1200" dirty="0"/>
              <a:t>, and </a:t>
            </a:r>
            <a:r>
              <a:rPr lang="en-IN" sz="1200" b="1" dirty="0"/>
              <a:t>1%</a:t>
            </a:r>
            <a:r>
              <a:rPr lang="en-IN" sz="1200" dirty="0"/>
              <a:t> resulted in a </a:t>
            </a:r>
            <a:r>
              <a:rPr lang="en-IN" sz="1200" b="1" dirty="0"/>
              <a:t>Missed Flight</a:t>
            </a:r>
            <a:r>
              <a:rPr lang="en-IN" sz="1200" dirty="0"/>
              <a:t> — with weather delay and    </a:t>
            </a:r>
          </a:p>
          <a:p>
            <a:r>
              <a:rPr lang="en-IN" sz="1200" dirty="0"/>
              <a:t>   mechanical issues as the top two reported causes.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Carbon Strategic Recommendations (Quantified)</a:t>
            </a:r>
            <a:endParaRPr/>
          </a:p>
        </p:txBody>
      </p:sp>
      <p:sp>
        <p:nvSpPr>
          <p:cNvPr id="182" name="Google Shape;182;p39"/>
          <p:cNvSpPr txBox="1"/>
          <p:nvPr/>
        </p:nvSpPr>
        <p:spPr>
          <a:xfrm>
            <a:off x="305991" y="697266"/>
            <a:ext cx="8521800" cy="451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1. Stop unnecessary Business/First Class flights</a:t>
            </a:r>
            <a:br>
              <a:rPr lang="en-IN" dirty="0"/>
            </a:br>
            <a:r>
              <a:rPr lang="en-IN" dirty="0"/>
              <a:t>  Business &amp; First Class emit almost </a:t>
            </a:r>
            <a:r>
              <a:rPr lang="en-IN" b="1" dirty="0"/>
              <a:t>2x more CO2</a:t>
            </a:r>
            <a:r>
              <a:rPr lang="en-IN" dirty="0"/>
              <a:t> than Economy — but cost the same.</a:t>
            </a:r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Save 79.7M kg CO2 (25% of total)</a:t>
            </a:r>
            <a:r>
              <a:rPr lang="en-IN" dirty="0"/>
              <a:t> — at no extra cost.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2. Enforce travel policy rules</a:t>
            </a:r>
            <a:br>
              <a:rPr lang="en-IN" dirty="0"/>
            </a:br>
            <a:r>
              <a:rPr lang="en-IN" dirty="0"/>
              <a:t>  Trips that break policy pollute </a:t>
            </a:r>
            <a:r>
              <a:rPr lang="en-IN" b="1" dirty="0"/>
              <a:t>43% more</a:t>
            </a:r>
            <a:r>
              <a:rPr lang="en-IN" dirty="0"/>
              <a:t> than trips that follow it.</a:t>
            </a:r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Save 35.6M kg CO2 (7% of total)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3. Switch rental cars to electric</a:t>
            </a:r>
            <a:br>
              <a:rPr lang="en-IN" dirty="0"/>
            </a:br>
            <a:r>
              <a:rPr lang="en-IN" dirty="0"/>
              <a:t>  Diesel/petrol cars emit </a:t>
            </a:r>
            <a:r>
              <a:rPr lang="en-IN" b="1" dirty="0"/>
              <a:t>35% more CO2</a:t>
            </a:r>
            <a:r>
              <a:rPr lang="en-IN" dirty="0"/>
              <a:t> than the electric option already available.</a:t>
            </a:r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Save 6.6M kg CO2 (4% of total)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4. Choose train over flight on short routes</a:t>
            </a:r>
            <a:br>
              <a:rPr lang="en-IN" dirty="0"/>
            </a:br>
            <a:r>
              <a:rPr lang="en-IN" dirty="0"/>
              <a:t>  Where train is available, flying emits </a:t>
            </a:r>
            <a:r>
              <a:rPr lang="en-IN" b="1" dirty="0"/>
              <a:t>5x more CO2</a:t>
            </a:r>
            <a:r>
              <a:rPr lang="en-IN" dirty="0"/>
              <a:t> — for the same price.</a:t>
            </a:r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Save 1.9M kg CO2 (1% of total)</a:t>
            </a: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title"/>
          </p:nvPr>
        </p:nvSpPr>
        <p:spPr>
          <a:xfrm>
            <a:off x="236049" y="98474"/>
            <a:ext cx="7945437" cy="246062"/>
          </a:xfr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dirty="0"/>
              <a:t>Strategic Integration Roadmap</a:t>
            </a:r>
          </a:p>
        </p:txBody>
      </p:sp>
      <p:sp>
        <p:nvSpPr>
          <p:cNvPr id="188" name="Google Shape;188;p40"/>
          <p:cNvSpPr txBox="1"/>
          <p:nvPr/>
        </p:nvSpPr>
        <p:spPr>
          <a:xfrm>
            <a:off x="464749" y="403741"/>
            <a:ext cx="8521800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Phase 1 — Quick Wins</a:t>
            </a:r>
            <a:r>
              <a:rPr lang="en-IN" dirty="0"/>
              <a:t> </a:t>
            </a:r>
            <a:r>
              <a:rPr lang="en-IN" i="1" dirty="0"/>
              <a:t>(2026)</a:t>
            </a:r>
            <a:br>
              <a:rPr lang="en-IN" dirty="0"/>
            </a:br>
            <a:r>
              <a:rPr lang="en-IN" dirty="0"/>
              <a:t>  Enforce policy compliance &amp; cabin-class rules</a:t>
            </a:r>
            <a:br>
              <a:rPr lang="en-IN" dirty="0"/>
            </a:br>
            <a:r>
              <a:rPr lang="en-IN" dirty="0"/>
              <a:t>  Switch rental fleet to electric</a:t>
            </a:r>
            <a:br>
              <a:rPr lang="en-IN" dirty="0"/>
            </a:br>
            <a:r>
              <a:rPr lang="en-IN" dirty="0"/>
              <a:t>  Mandate rail on short routes</a:t>
            </a:r>
          </a:p>
          <a:p>
            <a:r>
              <a:rPr lang="en-IN" b="1" dirty="0"/>
              <a:t>Target:</a:t>
            </a:r>
            <a:endParaRPr lang="en-IN" dirty="0"/>
          </a:p>
          <a:p>
            <a:r>
              <a:rPr lang="en-IN" dirty="0"/>
              <a:t>  Cut emissions fast, with no new budget</a:t>
            </a:r>
          </a:p>
          <a:p>
            <a:r>
              <a:rPr lang="en-IN" dirty="0"/>
              <a:t>  Build early momentum for the strategy</a:t>
            </a:r>
          </a:p>
          <a:p>
            <a:r>
              <a:rPr lang="en-IN" b="1" dirty="0"/>
              <a:t>Phase 2 — Embed &amp; Scale</a:t>
            </a:r>
            <a:r>
              <a:rPr lang="en-IN" dirty="0"/>
              <a:t> </a:t>
            </a:r>
            <a:r>
              <a:rPr lang="en-IN" i="1" dirty="0"/>
              <a:t>(2027–2028)</a:t>
            </a:r>
            <a:br>
              <a:rPr lang="en-IN" dirty="0"/>
            </a:br>
            <a:r>
              <a:rPr lang="en-IN" dirty="0"/>
              <a:t>  Live </a:t>
            </a:r>
            <a:r>
              <a:rPr lang="en-IN" dirty="0" err="1"/>
              <a:t>Celonis</a:t>
            </a:r>
            <a:r>
              <a:rPr lang="en-IN" dirty="0"/>
              <a:t> dashboard for real-time emissions tracking</a:t>
            </a:r>
            <a:br>
              <a:rPr lang="en-IN" dirty="0"/>
            </a:br>
            <a:r>
              <a:rPr lang="en-IN" dirty="0"/>
              <a:t>  Auto-flag out-of-policy bookings before approval</a:t>
            </a:r>
            <a:br>
              <a:rPr lang="en-IN" dirty="0"/>
            </a:br>
            <a:r>
              <a:rPr lang="en-IN" dirty="0"/>
              <a:t>  Expand EV fleet &amp; rail partnerships company-wide</a:t>
            </a:r>
          </a:p>
          <a:p>
            <a:r>
              <a:rPr lang="en-IN" b="1" dirty="0"/>
              <a:t>Target:</a:t>
            </a:r>
            <a:endParaRPr lang="en-IN" dirty="0"/>
          </a:p>
          <a:p>
            <a:r>
              <a:rPr lang="en-IN" dirty="0"/>
              <a:t>  Make the green choice the default choice</a:t>
            </a:r>
          </a:p>
          <a:p>
            <a:r>
              <a:rPr lang="en-IN" dirty="0"/>
              <a:t>  Catch problems before booking, not after</a:t>
            </a:r>
          </a:p>
          <a:p>
            <a:r>
              <a:rPr lang="en-IN" b="1" dirty="0"/>
              <a:t>Phase 3 — Net Zero</a:t>
            </a:r>
            <a:r>
              <a:rPr lang="en-IN" dirty="0"/>
              <a:t> </a:t>
            </a:r>
            <a:r>
              <a:rPr lang="en-IN" i="1" dirty="0"/>
              <a:t>(2029–2030)</a:t>
            </a:r>
            <a:br>
              <a:rPr lang="en-IN" dirty="0"/>
            </a:br>
            <a:r>
              <a:rPr lang="en-IN" dirty="0"/>
              <a:t>  CO2 budgets tied to Business Unit &amp; manager KPIs</a:t>
            </a:r>
            <a:br>
              <a:rPr lang="en-IN" dirty="0"/>
            </a:br>
            <a:r>
              <a:rPr lang="en-IN" dirty="0"/>
              <a:t>  Offset remaining unavoidable emissions</a:t>
            </a:r>
            <a:br>
              <a:rPr lang="en-IN" dirty="0"/>
            </a:br>
            <a:r>
              <a:rPr lang="en-IN" dirty="0"/>
              <a:t>  Full alignment with Net Zero by 2030 commitment</a:t>
            </a:r>
          </a:p>
          <a:p>
            <a:r>
              <a:rPr lang="en-IN" b="1" dirty="0"/>
              <a:t>Target:</a:t>
            </a:r>
            <a:endParaRPr lang="en-IN" dirty="0"/>
          </a:p>
          <a:p>
            <a:r>
              <a:rPr lang="en-IN" dirty="0"/>
              <a:t>  Make every manager accountable for emissions</a:t>
            </a:r>
          </a:p>
          <a:p>
            <a:r>
              <a:rPr lang="en-IN" dirty="0"/>
              <a:t>  Offset what can't be eliminated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Screenshots (max 3 slides) - will be used to shortlist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861145-4E47-5535-F366-7A9142BE5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9737"/>
            <a:ext cx="9144000" cy="30748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8F33-DF0C-8E45-1F0C-4A56B1D5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55" y="153037"/>
            <a:ext cx="7945500" cy="246300"/>
          </a:xfrm>
        </p:spPr>
        <p:txBody>
          <a:bodyPr/>
          <a:lstStyle/>
          <a:p>
            <a:r>
              <a:rPr lang="en-IN" dirty="0"/>
              <a:t>Dashboard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5AF63-0CE4-A6D5-929B-C072787F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3414"/>
            <a:ext cx="9144000" cy="40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86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2D4027-0384-405A-3946-46879B0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Screenshots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F7C848-881C-E67A-CBBD-FD8EFD19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981"/>
            <a:ext cx="9144000" cy="428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90074"/>
      </p:ext>
    </p:extLst>
  </p:cSld>
  <p:clrMapOvr>
    <a:masterClrMapping/>
  </p:clrMapOvr>
</p:sld>
</file>

<file path=ppt/theme/theme1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3299</TotalTime>
  <Words>829</Words>
  <Application>Microsoft Office PowerPoint</Application>
  <PresentationFormat>On-screen Show (16:9)</PresentationFormat>
  <Paragraphs>98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Wingdings</vt:lpstr>
      <vt:lpstr>Poppins</vt:lpstr>
      <vt:lpstr>Poppins SemiBold</vt:lpstr>
      <vt:lpstr>Arial</vt:lpstr>
      <vt:lpstr>Celonis Template 2024</vt:lpstr>
      <vt:lpstr>Sustainability Capstone: Decarbonising Travel</vt:lpstr>
      <vt:lpstr>Executive Summary</vt:lpstr>
      <vt:lpstr>Emissions Profile and Benchmarking</vt:lpstr>
      <vt:lpstr>Hotspot Analysis</vt:lpstr>
      <vt:lpstr>Inefficiencies Identified</vt:lpstr>
      <vt:lpstr>Low Carbon Strategic Recommendations (Quantified)</vt:lpstr>
      <vt:lpstr>Strategic Integration Roadmap</vt:lpstr>
      <vt:lpstr>Dashboard Screenshots (max 3 slides) - will be used to shortlist</vt:lpstr>
      <vt:lpstr>Dashboard Screenshots</vt:lpstr>
      <vt:lpstr>Dashboard Screenshots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SOUVIK DHARA</cp:lastModifiedBy>
  <cp:revision>1</cp:revision>
  <dcterms:modified xsi:type="dcterms:W3CDTF">2026-07-18T15:51:48Z</dcterms:modified>
</cp:coreProperties>
</file>